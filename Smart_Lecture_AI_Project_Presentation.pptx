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ptos"/>
              </a:defRPr>
            </a:pPr>
            <a:r>
              <a:t>SMART LECTURE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F"/>
                </a:solidFill>
                <a:latin typeface="Aptos"/>
              </a:defRPr>
            </a:pPr>
            <a:r>
              <a:t>Every lecture becomes</a:t>
            </a:r>
            <a:br/>
            <a:r>
              <a:t>a better way to learn.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5468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94A3B8"/>
                </a:solidFill>
                <a:latin typeface="Aptos"/>
              </a:defRPr>
            </a:pPr>
            <a:r>
              <a:t>A bilingual, AI-powered lecture capture and learning assistant for school and college students.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097280"/>
            <a:ext cx="2560320" cy="4114800"/>
          </a:xfrm>
          <a:prstGeom prst="roundRect">
            <a:avLst/>
          </a:prstGeom>
          <a:solidFill>
            <a:srgbClr val="111A30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818CF8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7E8F9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EE7B7"/>
                </a:solidFill>
                <a:latin typeface="Aptos"/>
              </a:defRPr>
            </a:pPr>
            <a:r>
              <a:t>AI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7E8F9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BA74"/>
                </a:solidFill>
                <a:latin typeface="Aptos"/>
              </a:defRPr>
            </a:pPr>
            <a:r>
              <a:t>QUIZZES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4572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F"/>
                </a:solidFill>
                <a:latin typeface="Aptos"/>
              </a:defRPr>
            </a:pPr>
            <a:r>
              <a:t>English  +  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ptos"/>
              </a:defRPr>
            </a:pPr>
            <a:r>
              <a:t>First-year ECE innovation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Students lose learning after the lecture.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Important explanations disappear when students do not have an easy way to capture, understand, and revise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514600" cy="228600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231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Aptos"/>
              </a:defRPr>
            </a:pPr>
            <a:r>
              <a:t>Missed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62072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Fast lectures are difficult to write down completely. Students lose examples, definitions, and key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240280"/>
            <a:ext cx="2514600" cy="228600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4231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7E8F9"/>
                </a:solidFill>
                <a:latin typeface="Aptos"/>
              </a:defRPr>
            </a:pPr>
            <a:r>
              <a:t>Language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862072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English-only material can make technical concepts harder to understand for Tamil-speaking learners.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240280"/>
            <a:ext cx="2514600" cy="228600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4231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BA74"/>
                </a:solidFill>
                <a:latin typeface="Aptos"/>
              </a:defRPr>
            </a:pPr>
            <a:r>
              <a:t>Weak revision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62072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Reading notes alone does not show whether a student really remembers the concept.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240280"/>
            <a:ext cx="2514600" cy="228600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24231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EE7B7"/>
                </a:solidFill>
                <a:latin typeface="Aptos"/>
              </a:defRPr>
            </a:pPr>
            <a:r>
              <a:t>Distractions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862072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Students need gentle focus support and reminders instead of discovering wasted time too late.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DESIGN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Designed around a real student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The prototype starts with the learner's classroom experience and turns each pain point into a simple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B10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384048" cy="38404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Empathize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Understand how students capture lectures, revise, and struggle with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331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B10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2999232" y="2331720"/>
            <a:ext cx="384048" cy="384048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971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342900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Make lecture knowledge easier to keep, understand, and remember.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2331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B10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266944" y="2331720"/>
            <a:ext cx="384048" cy="384048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2971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Ideate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342900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Combine ESP32 capture, bilingual AI, quizzes, and focus coaching.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2331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B10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7534656" y="2331720"/>
            <a:ext cx="384048" cy="384048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2971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342900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Build a working Flask dashboard with a path to hardware integration.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2331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B102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9802368" y="2331720"/>
            <a:ext cx="384048" cy="384048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2971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3429000"/>
            <a:ext cx="1965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Try the recording-to-notes-to-quiz flow with real classroom content.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A complete learning loop, not just a recorder.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Smart Lecture AI connects classroom capture with understanding, practice, progress, and community.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011680" cy="2057400"/>
          </a:xfrm>
          <a:prstGeom prst="roundRect">
            <a:avLst/>
          </a:prstGeom>
          <a:solidFill>
            <a:srgbClr val="111A30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7E8F9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F"/>
                </a:solidFill>
                <a:latin typeface="Aptos"/>
              </a:defRPr>
            </a:pPr>
            <a:r>
              <a:t>ESP32 microphone</a:t>
            </a:r>
            <a:br/>
            <a:r>
              <a:t>or phone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2072" y="30358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94A3B8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331720"/>
            <a:ext cx="2011680" cy="2057400"/>
          </a:xfrm>
          <a:prstGeom prst="roundRect">
            <a:avLst/>
          </a:prstGeom>
          <a:solidFill>
            <a:srgbClr val="111A30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18CF8"/>
                </a:solidFill>
                <a:latin typeface="Aptos"/>
              </a:defRPr>
            </a:pPr>
            <a:r>
              <a:t>Translate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F"/>
                </a:solidFill>
                <a:latin typeface="Aptos"/>
              </a:defRPr>
            </a:pPr>
            <a:r>
              <a:t>Speech becomes</a:t>
            </a:r>
            <a:br/>
            <a:r>
              <a:t>English + Tamil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30358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94A3B8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2331720"/>
            <a:ext cx="2011680" cy="2057400"/>
          </a:xfrm>
          <a:prstGeom prst="roundRect">
            <a:avLst/>
          </a:prstGeom>
          <a:solidFill>
            <a:srgbClr val="111A30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BA74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F"/>
                </a:solidFill>
                <a:latin typeface="Aptos"/>
              </a:defRPr>
            </a:pPr>
            <a:r>
              <a:t>MCQ, fill-ups,</a:t>
            </a:r>
            <a:br/>
            <a:r>
              <a:t>short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30358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94A3B8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3999" y="2331720"/>
            <a:ext cx="2011680" cy="2057400"/>
          </a:xfrm>
          <a:prstGeom prst="roundRect">
            <a:avLst/>
          </a:prstGeom>
          <a:solidFill>
            <a:srgbClr val="111A30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79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EE7B7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1F5FF"/>
                </a:solidFill>
                <a:latin typeface="Aptos"/>
              </a:defRPr>
            </a:pPr>
            <a:r>
              <a:t>AI feedback, points,</a:t>
            </a:r>
            <a:br/>
            <a:r>
              <a:t>weekly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Aptos"/>
              </a:defRPr>
            </a:pPr>
            <a:r>
              <a:t>The student can enter at any stage: upload a recording, paste a transcript, review notes, or ask the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Hardware and software work as one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The web prototype is usable now; the ESP32 device is the next integration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57400" cy="2468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7E8F9"/>
                </a:solidFill>
                <a:latin typeface="Aptos"/>
              </a:defRPr>
            </a:pPr>
            <a:r>
              <a:t>1.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1691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ESP32</a:t>
            </a:r>
            <a:br/>
            <a:r>
              <a:t>I2S microphone</a:t>
            </a:r>
            <a:br/>
            <a:r>
              <a:t>OLED status</a:t>
            </a:r>
            <a:br/>
            <a:r>
              <a:t>LED indicators</a:t>
            </a:r>
            <a:br/>
            <a:r>
              <a:t>SD backup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011680"/>
            <a:ext cx="2057400" cy="2468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Aptos"/>
              </a:defRPr>
            </a:pPr>
            <a:r>
              <a:t>2.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33472"/>
            <a:ext cx="1691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Wi-Fi upload</a:t>
            </a:r>
            <a:br/>
            <a:r>
              <a:t>HTTP endpoint</a:t>
            </a:r>
            <a:br/>
            <a:r>
              <a:t>Audio file transfer</a:t>
            </a:r>
            <a:br/>
            <a:r>
              <a:t>Offline backup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011680"/>
            <a:ext cx="2057400" cy="2468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EE7B7"/>
                </a:solidFill>
                <a:latin typeface="Aptos"/>
              </a:defRPr>
            </a:pPr>
            <a:r>
              <a:t>3. AI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33472"/>
            <a:ext cx="1691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Transcription</a:t>
            </a:r>
            <a:br/>
            <a:r>
              <a:t>Tamil/English notes</a:t>
            </a:r>
            <a:br/>
            <a:r>
              <a:t>Question generation</a:t>
            </a:r>
            <a:br/>
            <a:r>
              <a:t>Personal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011680"/>
            <a:ext cx="2057400" cy="2468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19" y="21945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BA74"/>
                </a:solidFill>
                <a:latin typeface="Aptos"/>
              </a:defRPr>
            </a:pPr>
            <a:r>
              <a:t>4. Student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2633472"/>
            <a:ext cx="1691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Dashboard</a:t>
            </a:r>
            <a:br/>
            <a:r>
              <a:t>Study Room</a:t>
            </a:r>
            <a:br/>
            <a:r>
              <a:t>Quizzes</a:t>
            </a:r>
            <a:br/>
            <a:r>
              <a:t>Progress</a:t>
            </a:r>
            <a:br/>
            <a:r>
              <a:t>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F"/>
                </a:solidFill>
                <a:latin typeface="Aptos"/>
              </a:defRPr>
            </a:pPr>
            <a:r>
              <a:t>Current implementation: Flask + SQLite + Jinja templates + responsive CSS + PWA manifest/service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SOFTWARE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The dashboard is ready for a live demonstration.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The current software can be shown without hardware through the browser audio-upload and transcript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337560" cy="1325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Aptos"/>
              </a:defRPr>
            </a:pPr>
            <a:r>
              <a:t>Learning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791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Lecture count, quiz attempts, average score, streak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2057400"/>
            <a:ext cx="3337560" cy="1325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240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7E8F9"/>
                </a:solidFill>
                <a:latin typeface="Aptos"/>
              </a:defRPr>
            </a:pPr>
            <a:r>
              <a:t>Bilingual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6791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English, Tamil, or English + Tamil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2057400"/>
            <a:ext cx="3337560" cy="1325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2240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EE7B7"/>
                </a:solidFill>
                <a:latin typeface="Aptos"/>
              </a:defRPr>
            </a:pPr>
            <a:r>
              <a:t>Study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199" y="2679192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Review notes, ask AI, practice quizzes, focus 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39"/>
            <a:ext cx="3337560" cy="1325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319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BA74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70831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Questions grounded in saved lectures and optional web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3749039"/>
            <a:ext cx="3337560" cy="1325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9319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A8D4"/>
                </a:solidFill>
                <a:latin typeface="Aptos"/>
              </a:defRPr>
            </a:pPr>
            <a:r>
              <a:t>Responsive PWA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370831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Dark academic dashboard for desktop and mobile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19" y="3749039"/>
            <a:ext cx="3337560" cy="1325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39319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Aptos"/>
              </a:defRPr>
            </a:pPr>
            <a:r>
              <a:t>Future-ready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4370831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ESP32 upload, school groups, notifications, screen-time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Recommended presentation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Show one complete student journey from lecture input to measurable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38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18CF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38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Open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938528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Aptos"/>
              </a:defRPr>
            </a:pPr>
            <a:r>
              <a:t>Explain the student home, snapshot, Study Room, and focus coach.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883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18CF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883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Create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68833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Aptos"/>
              </a:defRPr>
            </a:pPr>
            <a:r>
              <a:t>Paste a transcript and select English + Tamil.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381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18CF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38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438144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Aptos"/>
              </a:defRPr>
            </a:pPr>
            <a:r>
              <a:t>Open My Lecture Notes and show structured concepts.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879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18CF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4187952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Aptos"/>
              </a:defRPr>
            </a:pPr>
            <a:r>
              <a:t>Run MCQs, fill-ups, or short answers and show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18CF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1F5FF"/>
                </a:solidFill>
                <a:latin typeface="Aptos"/>
              </a:defRPr>
            </a:pPr>
            <a:r>
              <a:t>Ask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9377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Aptos"/>
              </a:defRPr>
            </a:pPr>
            <a:r>
              <a:t>Ask for a simple explanation from the saved lecture.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7E8F9"/>
                </a:solidFill>
                <a:latin typeface="Aptos"/>
              </a:defRPr>
            </a:pPr>
            <a:r>
              <a:t>Demo sentence: 'This system helps a student capture, understand, practice, and improve from one lecture.'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Why this is meaningful for ECE.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The project combines embedded systems with software intelligence to solve an education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3200400" cy="237744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7E8F9"/>
                </a:solidFill>
                <a:latin typeface="Aptos"/>
              </a:defRPr>
            </a:pPr>
            <a:r>
              <a:t>Embedded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The ESP32 device is a practical classroom interface: low-cost, portable, Wi-Fi-enabled, and designed for a real environment where phones may not be allowed.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57400"/>
            <a:ext cx="3200400" cy="237744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Aptos"/>
              </a:defRPr>
            </a:pPr>
            <a:r>
              <a:t>Inclusive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79192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Tamil and English support helps more students understand technical content without removing English terminology needed for exams.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57400"/>
            <a:ext cx="3200400" cy="237744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EE7B7"/>
                </a:solidFill>
                <a:latin typeface="Aptos"/>
              </a:defRPr>
            </a:pPr>
            <a:r>
              <a:t>Active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79192"/>
            <a:ext cx="2834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The app does not stop at notes. It creates practice and feedback so students can check what they actually learned.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tos"/>
              </a:defRPr>
            </a:pPr>
            <a:r>
              <a:t>SCOPE AND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1F5FF"/>
                </a:solidFill>
                <a:latin typeface="Aptos"/>
              </a:defRPr>
            </a:pPr>
            <a:r>
              <a:t>Build responsibly as the project grows.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Some ideas need additional privacy, permissions, and institutional support before they become production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337560" cy="2468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EE7B7"/>
                </a:solidFill>
                <a:latin typeface="Aptos"/>
              </a:defRPr>
            </a:pPr>
            <a:r>
              <a:t>Prototype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79192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Audio upload</a:t>
            </a:r>
            <a:br/>
            <a:r>
              <a:t>Bilingual notes</a:t>
            </a:r>
            <a:br/>
            <a:r>
              <a:t>Quizzes</a:t>
            </a:r>
            <a:br/>
            <a:r>
              <a:t>AI assistant</a:t>
            </a:r>
            <a:br/>
            <a:r>
              <a:t>Responsive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57400"/>
            <a:ext cx="3337560" cy="2468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7E8F9"/>
                </a:solidFill>
                <a:latin typeface="Aptos"/>
              </a:defRPr>
            </a:pPr>
            <a:r>
              <a:t>Next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79192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Live ESP32 upload</a:t>
            </a:r>
            <a:br/>
            <a:r>
              <a:t>SD backup</a:t>
            </a:r>
            <a:br/>
            <a:r>
              <a:t>Login and groups</a:t>
            </a:r>
            <a:br/>
            <a:r>
              <a:t>Real points</a:t>
            </a:r>
            <a:br/>
            <a:r>
              <a:t>Weekly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057400"/>
            <a:ext cx="3337560" cy="2468880"/>
          </a:xfrm>
          <a:prstGeom prst="roundRect">
            <a:avLst/>
          </a:prstGeom>
          <a:solidFill>
            <a:srgbClr val="111A30"/>
          </a:solidFill>
          <a:ln>
            <a:solidFill>
              <a:srgbClr val="2C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22402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DBA74"/>
                </a:solidFill>
                <a:latin typeface="Aptos"/>
              </a:defRPr>
            </a:pPr>
            <a:r>
              <a:t>Future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679192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1F5FF"/>
                </a:solidFill>
                <a:latin typeface="Aptos"/>
              </a:defRPr>
            </a:pPr>
            <a:r>
              <a:t>Mobile activity APIs</a:t>
            </a:r>
            <a:br/>
            <a:r>
              <a:t>Notifications</a:t>
            </a:r>
            <a:br/>
            <a:r>
              <a:t>Consent controls</a:t>
            </a:r>
            <a:br/>
            <a:r>
              <a:t>School deployment</a:t>
            </a:r>
            <a:br/>
            <a:r>
              <a:t>Data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F"/>
                </a:solidFill>
                <a:latin typeface="Aptos"/>
              </a:defRPr>
            </a:pPr>
            <a:r>
              <a:t>Design principle: help students focus without secretly reading private content or monitoring them without consent.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1F5FF"/>
                </a:solidFill>
                <a:latin typeface="Aptos"/>
              </a:defRPr>
            </a:pPr>
            <a:r>
              <a:t>Smart Lecture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  <a:latin typeface="Aptos"/>
              </a:defRPr>
            </a:pPr>
            <a:r>
              <a:t>Capture better. Understand clearly. Remember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160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F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846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First-year ECE Innovation &amp; Design Thinking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7E8F9"/>
                </a:solidFill>
                <a:latin typeface="Aptos"/>
              </a:defRPr>
            </a:pPr>
            <a:r>
              <a:t>ESP32  ?  AI  ?  Tamil + English  ?  Active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LECTURE AI  |  INNOVATION &amp; DESIGN THINKING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